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24"/>
  </p:notesMasterIdLst>
  <p:sldIdLst>
    <p:sldId id="345" r:id="rId2"/>
    <p:sldId id="256" r:id="rId3"/>
    <p:sldId id="257" r:id="rId4"/>
    <p:sldId id="282" r:id="rId5"/>
    <p:sldId id="334" r:id="rId6"/>
    <p:sldId id="332" r:id="rId7"/>
    <p:sldId id="337" r:id="rId8"/>
    <p:sldId id="338" r:id="rId9"/>
    <p:sldId id="339" r:id="rId10"/>
    <p:sldId id="335" r:id="rId11"/>
    <p:sldId id="336" r:id="rId12"/>
    <p:sldId id="260" r:id="rId13"/>
    <p:sldId id="340" r:id="rId14"/>
    <p:sldId id="341" r:id="rId15"/>
    <p:sldId id="342" r:id="rId16"/>
    <p:sldId id="343" r:id="rId17"/>
    <p:sldId id="344" r:id="rId18"/>
    <p:sldId id="268" r:id="rId19"/>
    <p:sldId id="269" r:id="rId20"/>
    <p:sldId id="279" r:id="rId21"/>
    <p:sldId id="306" r:id="rId22"/>
    <p:sldId id="307" r:id="rId23"/>
  </p:sldIdLst>
  <p:sldSz cx="9144000" cy="6858000" type="screen4x3"/>
  <p:notesSz cx="6797675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00"/>
    <a:srgbClr val="FF0000"/>
    <a:srgbClr val="0080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7" autoAdjust="0"/>
    <p:restoredTop sz="93517" autoAdjust="0"/>
  </p:normalViewPr>
  <p:slideViewPr>
    <p:cSldViewPr>
      <p:cViewPr>
        <p:scale>
          <a:sx n="150" d="100"/>
          <a:sy n="150" d="100"/>
        </p:scale>
        <p:origin x="-58" y="11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3928E6BD-DE1E-4E3F-B153-58088D0507B3}" type="datetimeFigureOut">
              <a:rPr lang="zh-TW" altLang="en-US"/>
              <a:pPr>
                <a:defRPr/>
              </a:pPr>
              <a:t>2019/6/16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F33FD84-9EA1-4C20-8DB1-FB62B448880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562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C9C8BB3-0AEE-46F9-9539-394FE4459599}" type="slidenum">
              <a:rPr lang="zh-TW" altLang="en-US" smtClean="0"/>
              <a:pPr/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2ACEE3A3-D030-47D2-B4A4-A19C132C71B7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741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01E5073-8CF4-4AF4-A301-95930ECE02EF}" type="slidenum">
              <a:rPr lang="zh-TW" altLang="en-US" smtClean="0"/>
              <a:pPr/>
              <a:t>12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458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2E7AAA72-5F42-4230-A91B-9F09B5ABB08D}" type="slidenum">
              <a:rPr lang="zh-TW" altLang="en-US" smtClean="0"/>
              <a:pPr/>
              <a:t>18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662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1756CD4-36A5-4A97-9419-A087F5B53305}" type="slidenum">
              <a:rPr lang="zh-TW" altLang="en-US" smtClean="0"/>
              <a:pPr/>
              <a:t>19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zh-TW" altLang="zh-TW"/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>
                <a:gd name="T0" fmla="*/ 0 w 1000"/>
                <a:gd name="T1" fmla="*/ 55 h 1000"/>
                <a:gd name="T2" fmla="*/ 0 w 1000"/>
                <a:gd name="T3" fmla="*/ 55 h 1000"/>
                <a:gd name="T4" fmla="*/ 0 w 1000"/>
                <a:gd name="T5" fmla="*/ 0 h 1000"/>
                <a:gd name="T6" fmla="*/ 0 w 1000"/>
                <a:gd name="T7" fmla="*/ 0 h 1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>
                <a:gd name="T0" fmla="*/ 0 w 1000"/>
                <a:gd name="T1" fmla="*/ 0 h 1000"/>
                <a:gd name="T2" fmla="*/ 0 w 1000"/>
                <a:gd name="T3" fmla="*/ 0 h 1000"/>
                <a:gd name="T4" fmla="*/ 0 w 1000"/>
                <a:gd name="T5" fmla="*/ 9 h 1000"/>
                <a:gd name="T6" fmla="*/ 0 w 1000"/>
                <a:gd name="T7" fmla="*/ 9 h 1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84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84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A84AC8-87AF-4DB1-8F21-6B6D36FBEB9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382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4A3223-E284-4F53-B078-E58E60B3B61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874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0280A-C992-4B2F-AD4B-FB8A2ED253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61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3CA01-F650-414D-9ADB-681DE9E891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602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4E73A-18FD-48AA-8353-C717080E86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637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8D7CB-21ED-4484-94C7-2A44BDBE8E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927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9010F-5005-4BA3-8C7E-93AB34EC0C0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917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8DF8A-EC74-4F82-A0BB-5E9A4B0DC7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14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58B9B-66F1-4C3C-A5A7-B5CD08EB5F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749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83805-AE94-49B1-9814-03FBF66362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896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28AE1-B584-427A-9BB8-71612554D1F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1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kumimoji="0"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kumimoji="0"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4746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746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746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/>
            </a:lvl1pPr>
          </a:lstStyle>
          <a:p>
            <a:pPr>
              <a:defRPr/>
            </a:pPr>
            <a:fld id="{09CE8E71-981D-4FDD-A8CE-92D6A77E22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3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6 w 1000"/>
              <a:gd name="T1" fmla="*/ 2147483646 h 1000"/>
              <a:gd name="T2" fmla="*/ 0 w 1000"/>
              <a:gd name="T3" fmla="*/ 2147483646 h 1000"/>
              <a:gd name="T4" fmla="*/ 0 w 1000"/>
              <a:gd name="T5" fmla="*/ 0 h 1000"/>
              <a:gd name="T6" fmla="*/ 2147483646 w 1000"/>
              <a:gd name="T7" fmla="*/ 0 h 1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4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0" r:id="rId1"/>
    <p:sldLayoutId id="2147484340" r:id="rId2"/>
    <p:sldLayoutId id="2147484341" r:id="rId3"/>
    <p:sldLayoutId id="2147484342" r:id="rId4"/>
    <p:sldLayoutId id="2147484343" r:id="rId5"/>
    <p:sldLayoutId id="2147484344" r:id="rId6"/>
    <p:sldLayoutId id="2147484345" r:id="rId7"/>
    <p:sldLayoutId id="2147484346" r:id="rId8"/>
    <p:sldLayoutId id="2147484347" r:id="rId9"/>
    <p:sldLayoutId id="2147484348" r:id="rId10"/>
    <p:sldLayoutId id="214748434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kumimoji="1" sz="2800">
          <a:solidFill>
            <a:schemeClr val="tx1"/>
          </a:solidFill>
          <a:latin typeface="+mn-lt"/>
          <a:ea typeface="+mn-ea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kumimoji="1"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28702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628800"/>
            <a:ext cx="2973388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019" y="3501008"/>
            <a:ext cx="29051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925250" y="1702126"/>
            <a:ext cx="2782653" cy="71876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815096" y="1628800"/>
            <a:ext cx="2782653" cy="64675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830019" y="3501008"/>
            <a:ext cx="2782653" cy="64807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899592" y="2447950"/>
            <a:ext cx="1800200" cy="33297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4815096" y="2447950"/>
            <a:ext cx="1800200" cy="33297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830019" y="4437112"/>
            <a:ext cx="1800200" cy="33297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左大括弧 13"/>
          <p:cNvSpPr/>
          <p:nvPr/>
        </p:nvSpPr>
        <p:spPr>
          <a:xfrm>
            <a:off x="925250" y="3933056"/>
            <a:ext cx="118358" cy="5760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85875" y="857250"/>
            <a:ext cx="6310313" cy="2160588"/>
          </a:xfrm>
        </p:spPr>
        <p:txBody>
          <a:bodyPr/>
          <a:lstStyle/>
          <a:p>
            <a:pPr eaLnBrk="1" hangingPunct="1"/>
            <a:r>
              <a:rPr lang="en-US" altLang="zh-TW"/>
              <a:t>System Programming</a:t>
            </a:r>
            <a:br>
              <a:rPr lang="en-US" altLang="zh-TW"/>
            </a:br>
            <a:r>
              <a:rPr lang="en-US" altLang="zh-TW"/>
              <a:t>Lab 7</a:t>
            </a:r>
            <a:br>
              <a:rPr lang="en-US" altLang="zh-TW"/>
            </a:br>
            <a:r>
              <a:rPr lang="en-US" altLang="zh-TW"/>
              <a:t>Signals - Fishing Game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0038" y="4005263"/>
            <a:ext cx="8280400" cy="2736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Lecturer</a:t>
            </a:r>
            <a:r>
              <a:rPr lang="zh-TW" altLang="en-US" sz="2400" dirty="0"/>
              <a:t>：</a:t>
            </a:r>
            <a:r>
              <a:rPr lang="en-US" altLang="zh-TW" sz="2400" dirty="0"/>
              <a:t>Professor Pao-Ann </a:t>
            </a:r>
            <a:r>
              <a:rPr lang="en-US" altLang="zh-TW" sz="2400" dirty="0" err="1"/>
              <a:t>Hsiung</a:t>
            </a: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Teaching Assistant: Cen-Rui Lin &amp; Janet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Embedded Systems Laboratory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National Chung Cheng University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Chiayi, Taiwan-62102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Fishing Game &amp; Signal Handling</a:t>
            </a:r>
          </a:p>
          <a:p>
            <a:pPr eaLnBrk="1" hangingPunct="1"/>
            <a:r>
              <a:rPr lang="en-US" altLang="zh-TW"/>
              <a:t>Requirements</a:t>
            </a:r>
          </a:p>
          <a:p>
            <a:pPr eaLnBrk="1" hangingPunct="1"/>
            <a:r>
              <a:rPr lang="en-US" altLang="zh-TW"/>
              <a:t>Turn In</a:t>
            </a:r>
          </a:p>
          <a:p>
            <a:pPr eaLnBrk="1" hangingPunct="1"/>
            <a:r>
              <a:rPr lang="en-US" altLang="zh-TW"/>
              <a:t>Download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3600"/>
              <a:t>Fishing Game &amp; Signal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Fishing Game 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2800" dirty="0"/>
              <a:t>Player(user) can use </a:t>
            </a:r>
            <a:r>
              <a:rPr lang="en-US" altLang="zh-TW" sz="2800" dirty="0">
                <a:solidFill>
                  <a:srgbClr val="0070C0"/>
                </a:solidFill>
              </a:rPr>
              <a:t>Ctrl + C </a:t>
            </a:r>
            <a:r>
              <a:rPr lang="en-US" altLang="zh-TW" sz="2800" dirty="0"/>
              <a:t>to </a:t>
            </a:r>
            <a:r>
              <a:rPr lang="en-US" altLang="zh-TW" sz="2800" dirty="0">
                <a:solidFill>
                  <a:srgbClr val="FF0000"/>
                </a:solidFill>
              </a:rPr>
              <a:t>put</a:t>
            </a:r>
            <a:r>
              <a:rPr lang="en-US" altLang="zh-TW" sz="2800" dirty="0"/>
              <a:t>/</a:t>
            </a:r>
            <a:r>
              <a:rPr lang="en-US" altLang="zh-TW" sz="2800" dirty="0">
                <a:solidFill>
                  <a:srgbClr val="FF0000"/>
                </a:solidFill>
              </a:rPr>
              <a:t>pull</a:t>
            </a:r>
            <a:r>
              <a:rPr lang="en-US" altLang="zh-TW" sz="2800" dirty="0"/>
              <a:t> the fishing rod and </a:t>
            </a:r>
            <a:r>
              <a:rPr lang="en-US" altLang="zh-TW" sz="2800" dirty="0">
                <a:solidFill>
                  <a:srgbClr val="0070C0"/>
                </a:solidFill>
              </a:rPr>
              <a:t>Ctrl + Z </a:t>
            </a:r>
            <a:r>
              <a:rPr lang="en-US" altLang="zh-TW" sz="2800" dirty="0"/>
              <a:t>to exit the game.</a:t>
            </a:r>
          </a:p>
          <a:p>
            <a:pPr>
              <a:defRPr/>
            </a:pPr>
            <a:endParaRPr lang="en-US" altLang="zh-TW" sz="2800" dirty="0"/>
          </a:p>
          <a:p>
            <a:pPr>
              <a:defRPr/>
            </a:pPr>
            <a:r>
              <a:rPr lang="en-US" altLang="zh-TW" sz="2800" dirty="0"/>
              <a:t>After the player </a:t>
            </a:r>
            <a:r>
              <a:rPr lang="en-US" altLang="zh-TW" sz="2800" dirty="0">
                <a:solidFill>
                  <a:srgbClr val="FF0000"/>
                </a:solidFill>
              </a:rPr>
              <a:t>puts</a:t>
            </a:r>
            <a:r>
              <a:rPr lang="en-US" altLang="zh-TW" sz="2800" dirty="0"/>
              <a:t> fishing rod in water, fish will eat the bait in a </a:t>
            </a:r>
            <a:r>
              <a:rPr lang="en-US" altLang="zh-TW" sz="2800" dirty="0">
                <a:solidFill>
                  <a:srgbClr val="FF0000"/>
                </a:solidFill>
              </a:rPr>
              <a:t>random time</a:t>
            </a:r>
            <a:r>
              <a:rPr lang="en-US" altLang="zh-TW" sz="2800" dirty="0"/>
              <a:t>.</a:t>
            </a:r>
          </a:p>
          <a:p>
            <a:pPr>
              <a:defRPr/>
            </a:pPr>
            <a:endParaRPr lang="en-US" altLang="zh-TW" sz="2800" dirty="0"/>
          </a:p>
          <a:p>
            <a:pPr>
              <a:defRPr/>
            </a:pPr>
            <a:r>
              <a:rPr lang="en-US" altLang="zh-TW" sz="2800" dirty="0"/>
              <a:t>Player must </a:t>
            </a:r>
            <a:r>
              <a:rPr lang="en-US" altLang="zh-TW" sz="2800" dirty="0">
                <a:solidFill>
                  <a:srgbClr val="FF0000"/>
                </a:solidFill>
              </a:rPr>
              <a:t>pull</a:t>
            </a:r>
            <a:r>
              <a:rPr lang="en-US" altLang="zh-TW" sz="2800" dirty="0"/>
              <a:t> fishing rod in a time limit to get the fish, otherwise the fish will escape.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>
          <a:xfrm>
            <a:off x="884238" y="-30163"/>
            <a:ext cx="7158037" cy="1412876"/>
          </a:xfrm>
        </p:spPr>
        <p:txBody>
          <a:bodyPr/>
          <a:lstStyle/>
          <a:p>
            <a:r>
              <a:rPr lang="en-US" altLang="zh-TW"/>
              <a:t>Fishing Game Flow</a:t>
            </a:r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4618038" y="1557338"/>
            <a:ext cx="1079500" cy="473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4618038" y="2409825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Put</a:t>
            </a:r>
            <a:endParaRPr lang="zh-TW" altLang="en-US" dirty="0"/>
          </a:p>
        </p:txBody>
      </p:sp>
      <p:cxnSp>
        <p:nvCxnSpPr>
          <p:cNvPr id="7" name="直線單箭頭接點 6"/>
          <p:cNvCxnSpPr>
            <a:stCxn id="4" idx="2"/>
            <a:endCxn id="5" idx="0"/>
          </p:cNvCxnSpPr>
          <p:nvPr/>
        </p:nvCxnSpPr>
        <p:spPr>
          <a:xfrm>
            <a:off x="5157788" y="2030413"/>
            <a:ext cx="0" cy="379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5" idx="2"/>
            <a:endCxn id="65" idx="0"/>
          </p:cNvCxnSpPr>
          <p:nvPr/>
        </p:nvCxnSpPr>
        <p:spPr>
          <a:xfrm>
            <a:off x="5157788" y="2889250"/>
            <a:ext cx="0" cy="379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菱形 20"/>
          <p:cNvSpPr/>
          <p:nvPr/>
        </p:nvSpPr>
        <p:spPr>
          <a:xfrm>
            <a:off x="4181475" y="4981575"/>
            <a:ext cx="1958975" cy="863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Fish is eating?</a:t>
            </a:r>
            <a:endParaRPr lang="zh-TW" altLang="en-US" dirty="0"/>
          </a:p>
        </p:txBody>
      </p:sp>
      <p:cxnSp>
        <p:nvCxnSpPr>
          <p:cNvPr id="44" name="直線單箭頭接點 43"/>
          <p:cNvCxnSpPr>
            <a:stCxn id="21" idx="1"/>
            <a:endCxn id="54" idx="3"/>
          </p:cNvCxnSpPr>
          <p:nvPr/>
        </p:nvCxnSpPr>
        <p:spPr>
          <a:xfrm flipH="1">
            <a:off x="3536950" y="5413375"/>
            <a:ext cx="6445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9" name="文字方塊 48"/>
          <p:cNvSpPr txBox="1">
            <a:spLocks noChangeArrowheads="1"/>
          </p:cNvSpPr>
          <p:nvPr/>
        </p:nvSpPr>
        <p:spPr bwMode="auto">
          <a:xfrm>
            <a:off x="3573463" y="5072063"/>
            <a:ext cx="560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sp>
        <p:nvSpPr>
          <p:cNvPr id="54" name="菱形 53"/>
          <p:cNvSpPr/>
          <p:nvPr/>
        </p:nvSpPr>
        <p:spPr>
          <a:xfrm>
            <a:off x="1296988" y="4972050"/>
            <a:ext cx="2239962" cy="8826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600" dirty="0"/>
              <a:t>Pull in time limit?</a:t>
            </a:r>
            <a:endParaRPr lang="zh-TW" altLang="en-US" sz="1600" dirty="0"/>
          </a:p>
        </p:txBody>
      </p:sp>
      <p:sp>
        <p:nvSpPr>
          <p:cNvPr id="65" name="圓角矩形 64"/>
          <p:cNvSpPr/>
          <p:nvPr/>
        </p:nvSpPr>
        <p:spPr>
          <a:xfrm>
            <a:off x="4618038" y="3268663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Waiting</a:t>
            </a:r>
            <a:endParaRPr lang="zh-TW" altLang="en-US" dirty="0"/>
          </a:p>
        </p:txBody>
      </p:sp>
      <p:cxnSp>
        <p:nvCxnSpPr>
          <p:cNvPr id="68" name="直線單箭頭接點 67"/>
          <p:cNvCxnSpPr>
            <a:stCxn id="65" idx="2"/>
            <a:endCxn id="77" idx="0"/>
          </p:cNvCxnSpPr>
          <p:nvPr/>
        </p:nvCxnSpPr>
        <p:spPr>
          <a:xfrm>
            <a:off x="5157788" y="3748088"/>
            <a:ext cx="0" cy="374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圓角矩形 76"/>
          <p:cNvSpPr/>
          <p:nvPr/>
        </p:nvSpPr>
        <p:spPr>
          <a:xfrm>
            <a:off x="4618038" y="412273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Pull</a:t>
            </a:r>
            <a:endParaRPr lang="zh-TW" altLang="en-US" dirty="0"/>
          </a:p>
        </p:txBody>
      </p:sp>
      <p:cxnSp>
        <p:nvCxnSpPr>
          <p:cNvPr id="85" name="直線單箭頭接點 84"/>
          <p:cNvCxnSpPr>
            <a:stCxn id="77" idx="2"/>
            <a:endCxn id="21" idx="0"/>
          </p:cNvCxnSpPr>
          <p:nvPr/>
        </p:nvCxnSpPr>
        <p:spPr>
          <a:xfrm>
            <a:off x="5157788" y="4602163"/>
            <a:ext cx="3175" cy="379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接點 93"/>
          <p:cNvCxnSpPr>
            <a:stCxn id="54" idx="0"/>
            <a:endCxn id="4" idx="1"/>
          </p:cNvCxnSpPr>
          <p:nvPr/>
        </p:nvCxnSpPr>
        <p:spPr>
          <a:xfrm rot="5400000" flipH="1" flipV="1">
            <a:off x="1928019" y="2282031"/>
            <a:ext cx="3178175" cy="220186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接點 94"/>
          <p:cNvCxnSpPr>
            <a:stCxn id="21" idx="3"/>
            <a:endCxn id="4" idx="3"/>
          </p:cNvCxnSpPr>
          <p:nvPr/>
        </p:nvCxnSpPr>
        <p:spPr>
          <a:xfrm flipH="1" flipV="1">
            <a:off x="5697538" y="1793875"/>
            <a:ext cx="442912" cy="3619500"/>
          </a:xfrm>
          <a:prstGeom prst="bentConnector3">
            <a:avLst>
              <a:gd name="adj1" fmla="val -2076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7" name="文字方塊 99"/>
          <p:cNvSpPr txBox="1">
            <a:spLocks noChangeArrowheads="1"/>
          </p:cNvSpPr>
          <p:nvPr/>
        </p:nvSpPr>
        <p:spPr bwMode="auto">
          <a:xfrm>
            <a:off x="6351588" y="5048250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10258" name="文字方塊 100"/>
          <p:cNvSpPr txBox="1">
            <a:spLocks noChangeArrowheads="1"/>
          </p:cNvSpPr>
          <p:nvPr/>
        </p:nvSpPr>
        <p:spPr bwMode="auto">
          <a:xfrm>
            <a:off x="2452688" y="4608513"/>
            <a:ext cx="481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102" name="圓角矩形 101"/>
          <p:cNvSpPr/>
          <p:nvPr/>
        </p:nvSpPr>
        <p:spPr>
          <a:xfrm>
            <a:off x="1878013" y="626268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Get fish</a:t>
            </a:r>
            <a:endParaRPr lang="zh-TW" altLang="en-US" dirty="0"/>
          </a:p>
        </p:txBody>
      </p:sp>
      <p:cxnSp>
        <p:nvCxnSpPr>
          <p:cNvPr id="103" name="肘形接點 102"/>
          <p:cNvCxnSpPr>
            <a:stCxn id="102" idx="3"/>
            <a:endCxn id="4" idx="3"/>
          </p:cNvCxnSpPr>
          <p:nvPr/>
        </p:nvCxnSpPr>
        <p:spPr>
          <a:xfrm flipV="1">
            <a:off x="2957513" y="1793875"/>
            <a:ext cx="2740025" cy="4708525"/>
          </a:xfrm>
          <a:prstGeom prst="bentConnector3">
            <a:avLst>
              <a:gd name="adj1" fmla="val 14982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54" idx="2"/>
            <a:endCxn id="102" idx="0"/>
          </p:cNvCxnSpPr>
          <p:nvPr/>
        </p:nvCxnSpPr>
        <p:spPr>
          <a:xfrm flipH="1">
            <a:off x="2417763" y="5854700"/>
            <a:ext cx="0" cy="407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2" name="文字方塊 140"/>
          <p:cNvSpPr txBox="1">
            <a:spLocks noChangeArrowheads="1"/>
          </p:cNvSpPr>
          <p:nvPr/>
        </p:nvSpPr>
        <p:spPr bwMode="auto">
          <a:xfrm>
            <a:off x="5157788" y="2897188"/>
            <a:ext cx="1935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After 1~2 second</a:t>
            </a:r>
            <a:endParaRPr lang="zh-TW" altLang="en-US"/>
          </a:p>
        </p:txBody>
      </p:sp>
      <p:sp>
        <p:nvSpPr>
          <p:cNvPr id="10263" name="文字方塊 142"/>
          <p:cNvSpPr txBox="1">
            <a:spLocks noChangeArrowheads="1"/>
          </p:cNvSpPr>
          <p:nvPr/>
        </p:nvSpPr>
        <p:spPr bwMode="auto">
          <a:xfrm>
            <a:off x="5157788" y="2041525"/>
            <a:ext cx="1627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10264" name="文字方塊 143"/>
          <p:cNvSpPr txBox="1">
            <a:spLocks noChangeArrowheads="1"/>
          </p:cNvSpPr>
          <p:nvPr/>
        </p:nvSpPr>
        <p:spPr bwMode="auto">
          <a:xfrm>
            <a:off x="5129213" y="3749675"/>
            <a:ext cx="1627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10265" name="文字方塊 48"/>
          <p:cNvSpPr txBox="1">
            <a:spLocks noChangeArrowheads="1"/>
          </p:cNvSpPr>
          <p:nvPr/>
        </p:nvSpPr>
        <p:spPr bwMode="auto">
          <a:xfrm>
            <a:off x="2430463" y="5875338"/>
            <a:ext cx="560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 bwMode="auto">
          <a:xfrm>
            <a:off x="900113" y="1916113"/>
            <a:ext cx="7993062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9000" indent="-4397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813" indent="-4032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81163" indent="-3857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7010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273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845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417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989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cs typeface="Courier New" panose="02070309020205020404" pitchFamily="49" charset="0"/>
              </a:rPr>
              <a:t>#include &lt;</a:t>
            </a:r>
            <a:r>
              <a:rPr lang="en-US" altLang="zh-TW" sz="2800" dirty="0" err="1">
                <a:cs typeface="Courier New" panose="02070309020205020404" pitchFamily="49" charset="0"/>
              </a:rPr>
              <a:t>signal.h</a:t>
            </a:r>
            <a:r>
              <a:rPr lang="en-US" altLang="zh-TW" sz="2800" dirty="0">
                <a:cs typeface="Courier New" panose="02070309020205020404" pitchFamily="49" charset="0"/>
              </a:rPr>
              <a:t>&gt;</a:t>
            </a:r>
          </a:p>
          <a:p>
            <a:pPr>
              <a:defRPr/>
            </a:pPr>
            <a:r>
              <a:rPr lang="en-US" altLang="zh-TW" sz="2400" b="1" dirty="0" err="1"/>
              <a:t>int</a:t>
            </a:r>
            <a:r>
              <a:rPr lang="en-US" altLang="zh-TW" sz="2400" b="1" dirty="0"/>
              <a:t> </a:t>
            </a:r>
            <a:r>
              <a:rPr lang="en-US" altLang="zh-TW" sz="2400" dirty="0" err="1"/>
              <a:t>sigaction</a:t>
            </a:r>
            <a:r>
              <a:rPr lang="en-US" altLang="zh-TW" sz="2400" b="1" dirty="0"/>
              <a:t>(</a:t>
            </a:r>
            <a:r>
              <a:rPr lang="en-US" altLang="zh-TW" sz="2400" b="1" dirty="0" err="1"/>
              <a:t>int</a:t>
            </a:r>
            <a:r>
              <a:rPr lang="en-US" altLang="zh-TW" sz="2400" b="1" dirty="0"/>
              <a:t> </a:t>
            </a:r>
            <a:r>
              <a:rPr lang="en-US" altLang="zh-TW" sz="2400" dirty="0">
                <a:solidFill>
                  <a:srgbClr val="FF0000"/>
                </a:solidFill>
              </a:rPr>
              <a:t>signal</a:t>
            </a:r>
            <a:r>
              <a:rPr lang="en-US" altLang="zh-TW" sz="2400" b="1" dirty="0"/>
              <a:t>, </a:t>
            </a:r>
            <a:r>
              <a:rPr lang="en-US" altLang="zh-TW" sz="2400" b="1" dirty="0" err="1"/>
              <a:t>const</a:t>
            </a:r>
            <a:r>
              <a:rPr lang="en-US" altLang="zh-TW" sz="2400" b="1" dirty="0"/>
              <a:t> </a:t>
            </a:r>
            <a:r>
              <a:rPr lang="en-US" altLang="zh-TW" sz="2400" b="1" dirty="0" err="1"/>
              <a:t>struct</a:t>
            </a:r>
            <a:r>
              <a:rPr lang="en-US" altLang="zh-TW" sz="2400" b="1" dirty="0"/>
              <a:t> </a:t>
            </a:r>
            <a:r>
              <a:rPr lang="en-US" altLang="zh-TW" sz="2400" b="1" dirty="0" err="1"/>
              <a:t>sigaction</a:t>
            </a:r>
            <a:r>
              <a:rPr lang="en-US" altLang="zh-TW" sz="2400" b="1" dirty="0"/>
              <a:t> *</a:t>
            </a:r>
            <a:r>
              <a:rPr lang="en-US" altLang="zh-TW" sz="2400" i="1" dirty="0"/>
              <a:t>act</a:t>
            </a:r>
            <a:r>
              <a:rPr lang="en-US" altLang="zh-TW" sz="2400" b="1" dirty="0"/>
              <a:t>,</a:t>
            </a:r>
            <a:r>
              <a:rPr lang="en-US" altLang="zh-TW" sz="2400" dirty="0"/>
              <a:t> </a:t>
            </a:r>
            <a:r>
              <a:rPr lang="en-US" altLang="zh-TW" sz="2400" b="1" dirty="0" err="1"/>
              <a:t>struct</a:t>
            </a:r>
            <a:r>
              <a:rPr lang="en-US" altLang="zh-TW" sz="2400" b="1" dirty="0"/>
              <a:t> </a:t>
            </a:r>
            <a:r>
              <a:rPr lang="en-US" altLang="zh-TW" sz="2400" b="1" dirty="0" err="1"/>
              <a:t>sigaction</a:t>
            </a:r>
            <a:r>
              <a:rPr lang="en-US" altLang="zh-TW" sz="2400" b="1" dirty="0"/>
              <a:t> *</a:t>
            </a:r>
            <a:r>
              <a:rPr lang="en-US" altLang="zh-TW" sz="2400" i="1" dirty="0" err="1"/>
              <a:t>oldact</a:t>
            </a:r>
            <a:r>
              <a:rPr lang="en-US" altLang="zh-TW" sz="2400" b="1" dirty="0"/>
              <a:t>);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TW" sz="2400" dirty="0"/>
              <a:t>This function sets a function(</a:t>
            </a:r>
            <a:r>
              <a:rPr lang="en-US" altLang="zh-TW" sz="2400" dirty="0">
                <a:cs typeface="Courier New" panose="02070309020205020404" pitchFamily="49" charset="0"/>
              </a:rPr>
              <a:t>handler</a:t>
            </a:r>
            <a:r>
              <a:rPr lang="en-US" altLang="zh-TW" sz="2400" dirty="0"/>
              <a:t>) to handle signal.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TW" sz="2400" b="1" dirty="0"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TW" sz="2400" b="1" dirty="0"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TW" sz="2400" b="1" dirty="0"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TW" sz="2400" b="1" dirty="0">
              <a:cs typeface="Courier New" panose="02070309020205020404" pitchFamily="49" charset="0"/>
            </a:endParaRPr>
          </a:p>
          <a:p>
            <a:pPr>
              <a:defRPr/>
            </a:pPr>
            <a:endParaRPr lang="en-US" altLang="zh-TW" sz="2400" b="1" dirty="0">
              <a:cs typeface="Courier New" panose="02070309020205020404" pitchFamily="49" charset="0"/>
            </a:endParaRPr>
          </a:p>
          <a:p>
            <a:pPr>
              <a:defRPr/>
            </a:pPr>
            <a:endParaRPr lang="en-US" altLang="zh-TW" sz="1800" kern="0" dirty="0"/>
          </a:p>
        </p:txBody>
      </p:sp>
      <p:sp>
        <p:nvSpPr>
          <p:cNvPr id="11267" name="標題 1"/>
          <p:cNvSpPr>
            <a:spLocks noGrp="1"/>
          </p:cNvSpPr>
          <p:nvPr>
            <p:ph type="title"/>
          </p:nvPr>
        </p:nvSpPr>
        <p:spPr>
          <a:xfrm>
            <a:off x="900113" y="-26988"/>
            <a:ext cx="7158037" cy="1412876"/>
          </a:xfrm>
        </p:spPr>
        <p:txBody>
          <a:bodyPr/>
          <a:lstStyle/>
          <a:p>
            <a:r>
              <a:rPr lang="en-US" altLang="zh-TW"/>
              <a:t>Signal Handling – sigaction 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71550" y="3860800"/>
          <a:ext cx="6935788" cy="190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8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009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5731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Signal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09" marB="4570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Disposition</a:t>
                      </a:r>
                      <a:endParaRPr lang="zh-TW" altLang="en-US" sz="1800" dirty="0"/>
                    </a:p>
                  </a:txBody>
                  <a:tcPr marL="91450" marR="91450" marT="45709" marB="45709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5182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SIGINT</a:t>
                      </a:r>
                      <a:endParaRPr lang="zh-TW" altLang="en-US" sz="1800" dirty="0"/>
                    </a:p>
                  </a:txBody>
                  <a:tcPr marL="91450" marR="91450" marT="45709" marB="45709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TW" sz="1800" dirty="0"/>
                        <a:t>Terminal driver generates signal when we type interrupt key (</a:t>
                      </a:r>
                      <a:r>
                        <a:rPr lang="en-US" altLang="zh-TW" sz="1800" dirty="0">
                          <a:solidFill>
                            <a:srgbClr val="0070C0"/>
                          </a:solidFill>
                        </a:rPr>
                        <a:t>CTRL-C</a:t>
                      </a:r>
                      <a:r>
                        <a:rPr lang="en-US" altLang="zh-TW" sz="1800" dirty="0"/>
                        <a:t>)</a:t>
                      </a:r>
                    </a:p>
                  </a:txBody>
                  <a:tcPr marL="91450" marR="91450" marT="45709" marB="45709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85182">
                <a:tc>
                  <a:txBody>
                    <a:bodyPr/>
                    <a:lstStyle/>
                    <a:p>
                      <a:r>
                        <a:rPr lang="en-US" altLang="zh-TW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SIGTSTP</a:t>
                      </a:r>
                      <a:endParaRPr lang="zh-TW" altLang="en-US" sz="1800" dirty="0"/>
                    </a:p>
                  </a:txBody>
                  <a:tcPr marL="91450" marR="91450" marT="45709" marB="45709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TW" sz="1800" dirty="0"/>
                        <a:t>Terminal driver generates signal when we type suspend key (</a:t>
                      </a:r>
                      <a:r>
                        <a:rPr lang="en-US" altLang="zh-TW" sz="1800" dirty="0">
                          <a:solidFill>
                            <a:srgbClr val="0070C0"/>
                          </a:solidFill>
                        </a:rPr>
                        <a:t>CTRL-Z</a:t>
                      </a:r>
                      <a:r>
                        <a:rPr lang="en-US" altLang="zh-TW" sz="1800" dirty="0"/>
                        <a:t>)</a:t>
                      </a:r>
                    </a:p>
                  </a:txBody>
                  <a:tcPr marL="91450" marR="91450" marT="45709" marB="45709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SIGALRM</a:t>
                      </a:r>
                      <a:endParaRPr lang="zh-TW" altLang="en-US" sz="1800" dirty="0"/>
                    </a:p>
                  </a:txBody>
                  <a:tcPr marL="91450" marR="91450" marT="45709" marB="4570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timer set </a:t>
                      </a:r>
                      <a:r>
                        <a:rPr lang="en-US" altLang="zh-TW" sz="1800" dirty="0">
                          <a:solidFill>
                            <a:schemeClr val="tx2"/>
                          </a:solidFill>
                        </a:rPr>
                        <a:t>with alarm() </a:t>
                      </a:r>
                      <a:r>
                        <a:rPr lang="en-US" altLang="zh-TW" sz="1800" dirty="0"/>
                        <a:t>expires</a:t>
                      </a:r>
                    </a:p>
                  </a:txBody>
                  <a:tcPr marL="91450" marR="91450" marT="45709" marB="45709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900113" y="-23813"/>
            <a:ext cx="7158037" cy="1412876"/>
          </a:xfrm>
        </p:spPr>
        <p:txBody>
          <a:bodyPr/>
          <a:lstStyle/>
          <a:p>
            <a:r>
              <a:rPr lang="en-US" altLang="zh-TW"/>
              <a:t>Signal Handling – sigaction 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b="1" dirty="0" err="1"/>
              <a:t>struct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sigaction</a:t>
            </a:r>
            <a:r>
              <a:rPr lang="en-US" altLang="zh-TW" sz="2400" dirty="0"/>
              <a:t> 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dirty="0"/>
              <a:t>    void (*</a:t>
            </a:r>
            <a:r>
              <a:rPr lang="en-US" altLang="zh-TW" sz="2400" dirty="0" err="1">
                <a:solidFill>
                  <a:srgbClr val="00B050"/>
                </a:solidFill>
              </a:rPr>
              <a:t>sa_handler</a:t>
            </a:r>
            <a:r>
              <a:rPr lang="en-US" altLang="zh-TW" sz="2400" dirty="0"/>
              <a:t>)(</a:t>
            </a:r>
            <a:r>
              <a:rPr lang="en-US" altLang="zh-TW" sz="2400" dirty="0" err="1"/>
              <a:t>int</a:t>
            </a:r>
            <a:r>
              <a:rPr lang="en-US" altLang="zh-TW" sz="2400" dirty="0"/>
              <a:t>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dirty="0"/>
              <a:t>    void (*</a:t>
            </a:r>
            <a:r>
              <a:rPr lang="en-US" altLang="zh-TW" sz="2400" dirty="0" err="1"/>
              <a:t>sa_sigaction</a:t>
            </a:r>
            <a:r>
              <a:rPr lang="en-US" altLang="zh-TW" sz="2400" dirty="0"/>
              <a:t>)(</a:t>
            </a:r>
            <a:r>
              <a:rPr lang="en-US" altLang="zh-TW" sz="2400" dirty="0" err="1"/>
              <a:t>int</a:t>
            </a:r>
            <a:r>
              <a:rPr lang="en-US" altLang="zh-TW" sz="2400" dirty="0"/>
              <a:t>, </a:t>
            </a:r>
            <a:r>
              <a:rPr lang="en-US" altLang="zh-TW" sz="2400" dirty="0" err="1"/>
              <a:t>siginfo_t</a:t>
            </a:r>
            <a:r>
              <a:rPr lang="en-US" altLang="zh-TW" sz="2400" dirty="0"/>
              <a:t> *, void *);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dirty="0"/>
              <a:t>    </a:t>
            </a:r>
            <a:r>
              <a:rPr lang="en-US" altLang="zh-TW" sz="2400" dirty="0" err="1"/>
              <a:t>sigset_t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sa_mask</a:t>
            </a:r>
            <a:r>
              <a:rPr lang="en-US" altLang="zh-TW" sz="2400" dirty="0"/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dirty="0"/>
              <a:t>    </a:t>
            </a:r>
            <a:r>
              <a:rPr lang="en-US" altLang="zh-TW" sz="2400" dirty="0" err="1"/>
              <a:t>int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sa_flags</a:t>
            </a:r>
            <a:r>
              <a:rPr lang="en-US" altLang="zh-TW" sz="2400" dirty="0"/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dirty="0"/>
              <a:t>    void (*</a:t>
            </a:r>
            <a:r>
              <a:rPr lang="en-US" altLang="zh-TW" sz="2400" dirty="0" err="1"/>
              <a:t>sa_restorer</a:t>
            </a:r>
            <a:r>
              <a:rPr lang="en-US" altLang="zh-TW" sz="2400" dirty="0"/>
              <a:t>)(void);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dirty="0"/>
              <a:t>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TW" sz="2400" b="1" dirty="0">
                <a:cs typeface="Courier New" panose="02070309020205020404" pitchFamily="49" charset="0"/>
              </a:rPr>
              <a:t>Handler :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TW" sz="2400" b="1" dirty="0">
                <a:cs typeface="Courier New" panose="02070309020205020404" pitchFamily="49" charset="0"/>
              </a:rPr>
              <a:t>void</a:t>
            </a:r>
            <a:r>
              <a:rPr lang="en-US" altLang="zh-TW" sz="2400" dirty="0">
                <a:cs typeface="Courier New" panose="02070309020205020404" pitchFamily="49" charset="0"/>
              </a:rPr>
              <a:t> </a:t>
            </a:r>
            <a:r>
              <a:rPr lang="en-US" altLang="zh-TW" sz="2400" dirty="0">
                <a:solidFill>
                  <a:srgbClr val="00B050"/>
                </a:solidFill>
                <a:cs typeface="Courier New" panose="02070309020205020404" pitchFamily="49" charset="0"/>
              </a:rPr>
              <a:t>handler</a:t>
            </a:r>
            <a:r>
              <a:rPr lang="en-US" altLang="zh-TW" sz="2400" dirty="0">
                <a:cs typeface="Courier New" panose="02070309020205020404" pitchFamily="49" charset="0"/>
              </a:rPr>
              <a:t> (</a:t>
            </a:r>
            <a:r>
              <a:rPr lang="en-US" altLang="zh-TW" sz="2400" b="1" dirty="0" err="1">
                <a:cs typeface="Courier New" panose="02070309020205020404" pitchFamily="49" charset="0"/>
              </a:rPr>
              <a:t>int</a:t>
            </a:r>
            <a:r>
              <a:rPr lang="en-US" altLang="zh-TW" sz="2400" dirty="0">
                <a:cs typeface="Courier New" panose="02070309020205020404" pitchFamily="49" charset="0"/>
              </a:rPr>
              <a:t> </a:t>
            </a:r>
            <a:r>
              <a:rPr lang="en-US" altLang="zh-TW" sz="2400" dirty="0" err="1">
                <a:cs typeface="Courier New" panose="02070309020205020404" pitchFamily="49" charset="0"/>
              </a:rPr>
              <a:t>signum</a:t>
            </a:r>
            <a:r>
              <a:rPr lang="en-US" altLang="zh-TW" sz="2400" dirty="0">
                <a:cs typeface="Courier New" panose="02070309020205020404" pitchFamily="49" charset="0"/>
              </a:rPr>
              <a:t>){…}</a:t>
            </a:r>
            <a:endParaRPr lang="en-US" altLang="zh-TW" sz="1800" dirty="0"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TW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>
          <a:xfrm>
            <a:off x="900113" y="-26988"/>
            <a:ext cx="7158037" cy="1412876"/>
          </a:xfrm>
        </p:spPr>
        <p:txBody>
          <a:bodyPr/>
          <a:lstStyle/>
          <a:p>
            <a:r>
              <a:rPr lang="en-US" altLang="zh-TW"/>
              <a:t>Signal Handling – sigaction </a:t>
            </a:r>
            <a:endParaRPr lang="zh-TW" altLang="en-US"/>
          </a:p>
        </p:txBody>
      </p:sp>
      <p:sp>
        <p:nvSpPr>
          <p:cNvPr id="1331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 b="1"/>
              <a:t>Ex :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 b="1"/>
              <a:t>struct sigaction </a:t>
            </a:r>
            <a:r>
              <a:rPr lang="en-US" altLang="zh-TW" sz="2400">
                <a:solidFill>
                  <a:srgbClr val="0070C0"/>
                </a:solidFill>
              </a:rPr>
              <a:t>new_action</a:t>
            </a:r>
            <a:r>
              <a:rPr lang="en-US" altLang="zh-TW" sz="24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/>
              <a:t>new_action.sa_handler = </a:t>
            </a:r>
            <a:r>
              <a:rPr lang="en-US" altLang="zh-TW" sz="2400">
                <a:solidFill>
                  <a:srgbClr val="00B050"/>
                </a:solidFill>
              </a:rPr>
              <a:t>handler</a:t>
            </a:r>
            <a:r>
              <a:rPr lang="en-US" altLang="zh-TW" sz="24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/>
              <a:t>sigemptyset (&amp;new_action.sa_mask);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/>
              <a:t>new_action.sa_flags = 0;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TW" sz="240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2400"/>
              <a:t>sigaction (</a:t>
            </a:r>
            <a:r>
              <a:rPr lang="en-US" altLang="zh-TW" sz="2400">
                <a:solidFill>
                  <a:srgbClr val="FF0000"/>
                </a:solidFill>
              </a:rPr>
              <a:t>SIGINT</a:t>
            </a:r>
            <a:r>
              <a:rPr lang="en-US" altLang="zh-TW" sz="2400"/>
              <a:t>, &amp;</a:t>
            </a:r>
            <a:r>
              <a:rPr lang="en-US" altLang="zh-TW" sz="2400">
                <a:solidFill>
                  <a:srgbClr val="0070C0"/>
                </a:solidFill>
              </a:rPr>
              <a:t>new_action</a:t>
            </a:r>
            <a:r>
              <a:rPr lang="en-US" altLang="zh-TW" sz="2400"/>
              <a:t>, NULL);</a:t>
            </a:r>
            <a:endParaRPr lang="zh-TW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/>
          <p:cNvSpPr>
            <a:spLocks noGrp="1"/>
          </p:cNvSpPr>
          <p:nvPr>
            <p:ph type="title"/>
          </p:nvPr>
        </p:nvSpPr>
        <p:spPr>
          <a:xfrm>
            <a:off x="900113" y="-34925"/>
            <a:ext cx="7158037" cy="1412875"/>
          </a:xfrm>
        </p:spPr>
        <p:txBody>
          <a:bodyPr/>
          <a:lstStyle/>
          <a:p>
            <a:r>
              <a:rPr lang="en-US" altLang="zh-TW"/>
              <a:t>alarm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b="1" dirty="0"/>
              <a:t>unsigned </a:t>
            </a:r>
            <a:r>
              <a:rPr lang="en-US" altLang="zh-TW" b="1" dirty="0" err="1"/>
              <a:t>int</a:t>
            </a:r>
            <a:r>
              <a:rPr lang="en-US" altLang="zh-TW" dirty="0"/>
              <a:t> alarm (</a:t>
            </a:r>
            <a:r>
              <a:rPr lang="en-US" altLang="zh-TW" b="1" dirty="0"/>
              <a:t>unsigned</a:t>
            </a:r>
            <a:r>
              <a:rPr lang="en-US" altLang="zh-TW" dirty="0"/>
              <a:t> </a:t>
            </a:r>
            <a:r>
              <a:rPr lang="en-US" altLang="zh-TW" b="1" dirty="0" err="1"/>
              <a:t>int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sec</a:t>
            </a:r>
            <a:r>
              <a:rPr lang="en-US" altLang="zh-TW" dirty="0"/>
              <a:t>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Set the real-time timer to expire in </a:t>
            </a:r>
            <a:r>
              <a:rPr lang="en-US" altLang="zh-TW" dirty="0">
                <a:solidFill>
                  <a:srgbClr val="00B050"/>
                </a:solidFill>
              </a:rPr>
              <a:t>sec</a:t>
            </a:r>
            <a:r>
              <a:rPr lang="en-US" altLang="zh-TW" dirty="0"/>
              <a:t> seconds.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TW" b="1" dirty="0"/>
              <a:t>Ex : </a:t>
            </a:r>
            <a:r>
              <a:rPr lang="en-US" altLang="zh-TW" dirty="0"/>
              <a:t>alarm(1);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TW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dirty="0"/>
          </a:p>
          <a:p>
            <a:pPr marL="449262" lvl="1" indent="0">
              <a:buFont typeface="Wingdings" panose="05000000000000000000" pitchFamily="2" charset="2"/>
              <a:buNone/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/>
          <p:cNvSpPr>
            <a:spLocks noGrp="1"/>
          </p:cNvSpPr>
          <p:nvPr>
            <p:ph type="title"/>
          </p:nvPr>
        </p:nvSpPr>
        <p:spPr>
          <a:xfrm>
            <a:off x="900113" y="-34925"/>
            <a:ext cx="7158037" cy="1412875"/>
          </a:xfrm>
        </p:spPr>
        <p:txBody>
          <a:bodyPr/>
          <a:lstStyle/>
          <a:p>
            <a:r>
              <a:rPr lang="en-US" altLang="zh-TW"/>
              <a:t>rand &amp; srand</a:t>
            </a:r>
            <a:endParaRPr lang="zh-TW" altLang="en-US"/>
          </a:p>
        </p:txBody>
      </p:sp>
      <p:sp>
        <p:nvSpPr>
          <p:cNvPr id="153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b="1"/>
              <a:t>void</a:t>
            </a:r>
            <a:r>
              <a:rPr lang="en-US" altLang="zh-TW" sz="2800"/>
              <a:t> srand(</a:t>
            </a:r>
            <a:r>
              <a:rPr lang="en-US" altLang="zh-TW" sz="2800" b="1"/>
              <a:t>unsigned int </a:t>
            </a:r>
            <a:r>
              <a:rPr lang="en-US" altLang="zh-TW" sz="2800"/>
              <a:t>seed)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/>
              <a:t>Seed the random number generator used by the function </a:t>
            </a:r>
            <a:r>
              <a:rPr lang="en-US" altLang="zh-TW" sz="2800" b="1"/>
              <a:t>rand</a:t>
            </a:r>
            <a:r>
              <a:rPr lang="en-US" altLang="zh-TW" sz="2800"/>
              <a:t>.</a:t>
            </a:r>
            <a:endParaRPr lang="en-US" altLang="zh-TW" sz="2800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b="1"/>
              <a:t>Ex : </a:t>
            </a:r>
            <a:r>
              <a:rPr lang="en-US" altLang="zh-TW" sz="2800"/>
              <a:t>srand(time(NULL));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2800" b="1"/>
          </a:p>
          <a:p>
            <a:r>
              <a:rPr lang="en-US" altLang="zh-TW" sz="2800" b="1"/>
              <a:t>int </a:t>
            </a:r>
            <a:r>
              <a:rPr lang="en-US" altLang="zh-TW" sz="2800"/>
              <a:t>rand</a:t>
            </a:r>
            <a:r>
              <a:rPr lang="en-US" altLang="zh-TW" sz="2800" b="1"/>
              <a:t>(void)</a:t>
            </a:r>
            <a:endParaRPr lang="en-US" altLang="zh-TW" sz="2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/>
              <a:t>Return a pseudo-random number in the range of 0 to </a:t>
            </a:r>
            <a:r>
              <a:rPr lang="en-US" altLang="zh-TW" sz="2800" i="1"/>
              <a:t>RAND_MAX.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b="1"/>
              <a:t>Ex : </a:t>
            </a:r>
            <a:r>
              <a:rPr lang="en-US" altLang="zh-TW" sz="2800"/>
              <a:t>rand()%5;  (return 0~4)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cs typeface="Tahoma" panose="020B0604030504040204" pitchFamily="34" charset="0"/>
              </a:rPr>
              <a:t>Requirements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TW" altLang="zh-TW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>
          <a:xfrm>
            <a:off x="884238" y="-30163"/>
            <a:ext cx="7158037" cy="1412876"/>
          </a:xfrm>
        </p:spPr>
        <p:txBody>
          <a:bodyPr/>
          <a:lstStyle/>
          <a:p>
            <a:r>
              <a:rPr lang="en-US" altLang="zh-TW"/>
              <a:t>Situation 1 – No fish biting </a:t>
            </a:r>
            <a:endParaRPr lang="zh-TW" altLang="en-US"/>
          </a:p>
        </p:txBody>
      </p:sp>
      <p:pic>
        <p:nvPicPr>
          <p:cNvPr id="18435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063" y="3213100"/>
            <a:ext cx="28702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圓角矩形 32"/>
          <p:cNvSpPr/>
          <p:nvPr/>
        </p:nvSpPr>
        <p:spPr>
          <a:xfrm>
            <a:off x="3492500" y="1557338"/>
            <a:ext cx="1079500" cy="473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34" name="圓角矩形 33"/>
          <p:cNvSpPr/>
          <p:nvPr/>
        </p:nvSpPr>
        <p:spPr>
          <a:xfrm>
            <a:off x="3492500" y="2409825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Put</a:t>
            </a:r>
            <a:endParaRPr lang="zh-TW" altLang="en-US" dirty="0"/>
          </a:p>
        </p:txBody>
      </p:sp>
      <p:sp>
        <p:nvSpPr>
          <p:cNvPr id="37" name="菱形 36"/>
          <p:cNvSpPr/>
          <p:nvPr/>
        </p:nvSpPr>
        <p:spPr>
          <a:xfrm>
            <a:off x="3055938" y="4981575"/>
            <a:ext cx="1958975" cy="863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Fish is eating?</a:t>
            </a:r>
            <a:endParaRPr lang="zh-TW" altLang="en-US" dirty="0"/>
          </a:p>
        </p:txBody>
      </p:sp>
      <p:cxnSp>
        <p:nvCxnSpPr>
          <p:cNvPr id="38" name="直線單箭頭接點 37"/>
          <p:cNvCxnSpPr>
            <a:stCxn id="37" idx="1"/>
            <a:endCxn id="40" idx="3"/>
          </p:cNvCxnSpPr>
          <p:nvPr/>
        </p:nvCxnSpPr>
        <p:spPr>
          <a:xfrm flipH="1">
            <a:off x="2411413" y="5413375"/>
            <a:ext cx="6445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0" name="文字方塊 48"/>
          <p:cNvSpPr txBox="1">
            <a:spLocks noChangeArrowheads="1"/>
          </p:cNvSpPr>
          <p:nvPr/>
        </p:nvSpPr>
        <p:spPr bwMode="auto">
          <a:xfrm>
            <a:off x="2447925" y="5072063"/>
            <a:ext cx="560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sp>
        <p:nvSpPr>
          <p:cNvPr id="40" name="菱形 39"/>
          <p:cNvSpPr/>
          <p:nvPr/>
        </p:nvSpPr>
        <p:spPr>
          <a:xfrm>
            <a:off x="171450" y="4972050"/>
            <a:ext cx="2239963" cy="8826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600" dirty="0"/>
              <a:t>Pull in time limit?</a:t>
            </a:r>
            <a:endParaRPr lang="zh-TW" altLang="en-US" sz="1600" dirty="0"/>
          </a:p>
        </p:txBody>
      </p:sp>
      <p:sp>
        <p:nvSpPr>
          <p:cNvPr id="41" name="圓角矩形 40"/>
          <p:cNvSpPr/>
          <p:nvPr/>
        </p:nvSpPr>
        <p:spPr>
          <a:xfrm>
            <a:off x="3492500" y="3268663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Waiting</a:t>
            </a:r>
            <a:endParaRPr lang="zh-TW" altLang="en-US" dirty="0"/>
          </a:p>
        </p:txBody>
      </p:sp>
      <p:sp>
        <p:nvSpPr>
          <p:cNvPr id="43" name="圓角矩形 42"/>
          <p:cNvSpPr/>
          <p:nvPr/>
        </p:nvSpPr>
        <p:spPr>
          <a:xfrm>
            <a:off x="3492500" y="412273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Pull</a:t>
            </a:r>
            <a:endParaRPr lang="zh-TW" altLang="en-US" dirty="0"/>
          </a:p>
        </p:txBody>
      </p:sp>
      <p:cxnSp>
        <p:nvCxnSpPr>
          <p:cNvPr id="46" name="肘形接點 45"/>
          <p:cNvCxnSpPr>
            <a:stCxn id="40" idx="0"/>
            <a:endCxn id="33" idx="1"/>
          </p:cNvCxnSpPr>
          <p:nvPr/>
        </p:nvCxnSpPr>
        <p:spPr>
          <a:xfrm rot="5400000" flipH="1" flipV="1">
            <a:off x="802481" y="2282032"/>
            <a:ext cx="3178175" cy="220186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5" name="文字方塊 99"/>
          <p:cNvSpPr txBox="1">
            <a:spLocks noChangeArrowheads="1"/>
          </p:cNvSpPr>
          <p:nvPr/>
        </p:nvSpPr>
        <p:spPr bwMode="auto">
          <a:xfrm>
            <a:off x="5226050" y="5048250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18446" name="文字方塊 100"/>
          <p:cNvSpPr txBox="1">
            <a:spLocks noChangeArrowheads="1"/>
          </p:cNvSpPr>
          <p:nvPr/>
        </p:nvSpPr>
        <p:spPr bwMode="auto">
          <a:xfrm>
            <a:off x="1327150" y="4608513"/>
            <a:ext cx="4810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50" name="圓角矩形 49"/>
          <p:cNvSpPr/>
          <p:nvPr/>
        </p:nvSpPr>
        <p:spPr>
          <a:xfrm>
            <a:off x="752475" y="626268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Get fish</a:t>
            </a:r>
            <a:endParaRPr lang="zh-TW" altLang="en-US" dirty="0"/>
          </a:p>
        </p:txBody>
      </p:sp>
      <p:cxnSp>
        <p:nvCxnSpPr>
          <p:cNvPr id="51" name="肘形接點 50"/>
          <p:cNvCxnSpPr>
            <a:stCxn id="50" idx="3"/>
            <a:endCxn id="33" idx="3"/>
          </p:cNvCxnSpPr>
          <p:nvPr/>
        </p:nvCxnSpPr>
        <p:spPr>
          <a:xfrm flipV="1">
            <a:off x="1831975" y="1793875"/>
            <a:ext cx="2740025" cy="4708525"/>
          </a:xfrm>
          <a:prstGeom prst="bentConnector3">
            <a:avLst>
              <a:gd name="adj1" fmla="val 14982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40" idx="2"/>
            <a:endCxn id="50" idx="0"/>
          </p:cNvCxnSpPr>
          <p:nvPr/>
        </p:nvCxnSpPr>
        <p:spPr>
          <a:xfrm flipH="1">
            <a:off x="1292225" y="5854700"/>
            <a:ext cx="0" cy="407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0" name="文字方塊 140"/>
          <p:cNvSpPr txBox="1">
            <a:spLocks noChangeArrowheads="1"/>
          </p:cNvSpPr>
          <p:nvPr/>
        </p:nvSpPr>
        <p:spPr bwMode="auto">
          <a:xfrm>
            <a:off x="4032250" y="2897188"/>
            <a:ext cx="1935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After 1~2 second</a:t>
            </a:r>
            <a:endParaRPr lang="zh-TW" altLang="en-US"/>
          </a:p>
        </p:txBody>
      </p:sp>
      <p:sp>
        <p:nvSpPr>
          <p:cNvPr id="18451" name="文字方塊 142"/>
          <p:cNvSpPr txBox="1">
            <a:spLocks noChangeArrowheads="1"/>
          </p:cNvSpPr>
          <p:nvPr/>
        </p:nvSpPr>
        <p:spPr bwMode="auto">
          <a:xfrm>
            <a:off x="4032250" y="2041525"/>
            <a:ext cx="162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18452" name="文字方塊 143"/>
          <p:cNvSpPr txBox="1">
            <a:spLocks noChangeArrowheads="1"/>
          </p:cNvSpPr>
          <p:nvPr/>
        </p:nvSpPr>
        <p:spPr bwMode="auto">
          <a:xfrm>
            <a:off x="4032250" y="3748088"/>
            <a:ext cx="1627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18453" name="文字方塊 48"/>
          <p:cNvSpPr txBox="1">
            <a:spLocks noChangeArrowheads="1"/>
          </p:cNvSpPr>
          <p:nvPr/>
        </p:nvSpPr>
        <p:spPr bwMode="auto">
          <a:xfrm>
            <a:off x="1304925" y="5875338"/>
            <a:ext cx="560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cxnSp>
        <p:nvCxnSpPr>
          <p:cNvPr id="35" name="直線單箭頭接點 34"/>
          <p:cNvCxnSpPr>
            <a:stCxn id="33" idx="2"/>
            <a:endCxn id="34" idx="0"/>
          </p:cNvCxnSpPr>
          <p:nvPr/>
        </p:nvCxnSpPr>
        <p:spPr>
          <a:xfrm>
            <a:off x="4032250" y="2030413"/>
            <a:ext cx="0" cy="3794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34" idx="2"/>
            <a:endCxn id="41" idx="0"/>
          </p:cNvCxnSpPr>
          <p:nvPr/>
        </p:nvCxnSpPr>
        <p:spPr>
          <a:xfrm>
            <a:off x="4032250" y="2889250"/>
            <a:ext cx="0" cy="3794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41" idx="2"/>
            <a:endCxn id="43" idx="0"/>
          </p:cNvCxnSpPr>
          <p:nvPr/>
        </p:nvCxnSpPr>
        <p:spPr>
          <a:xfrm>
            <a:off x="4032250" y="3748088"/>
            <a:ext cx="0" cy="3746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43" idx="2"/>
            <a:endCxn id="37" idx="0"/>
          </p:cNvCxnSpPr>
          <p:nvPr/>
        </p:nvCxnSpPr>
        <p:spPr>
          <a:xfrm>
            <a:off x="4032250" y="4602163"/>
            <a:ext cx="3175" cy="3794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37" idx="3"/>
            <a:endCxn id="33" idx="3"/>
          </p:cNvCxnSpPr>
          <p:nvPr/>
        </p:nvCxnSpPr>
        <p:spPr>
          <a:xfrm flipH="1" flipV="1">
            <a:off x="4572000" y="1793875"/>
            <a:ext cx="442913" cy="3619500"/>
          </a:xfrm>
          <a:prstGeom prst="bentConnector3">
            <a:avLst>
              <a:gd name="adj1" fmla="val -2076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/>
          <p:cNvSpPr>
            <a:spLocks noGrp="1"/>
          </p:cNvSpPr>
          <p:nvPr>
            <p:ph type="title"/>
          </p:nvPr>
        </p:nvSpPr>
        <p:spPr>
          <a:xfrm>
            <a:off x="884238" y="-30163"/>
            <a:ext cx="7158037" cy="1412876"/>
          </a:xfrm>
        </p:spPr>
        <p:txBody>
          <a:bodyPr/>
          <a:lstStyle/>
          <a:p>
            <a:r>
              <a:rPr lang="en-US" altLang="zh-TW"/>
              <a:t>Situation 2 – Catch fish</a:t>
            </a:r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3492500" y="1557338"/>
            <a:ext cx="1079500" cy="473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34" name="圓角矩形 33"/>
          <p:cNvSpPr/>
          <p:nvPr/>
        </p:nvSpPr>
        <p:spPr>
          <a:xfrm>
            <a:off x="3492500" y="2409825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Put</a:t>
            </a:r>
            <a:endParaRPr lang="zh-TW" altLang="en-US" dirty="0"/>
          </a:p>
        </p:txBody>
      </p:sp>
      <p:cxnSp>
        <p:nvCxnSpPr>
          <p:cNvPr id="35" name="直線單箭頭接點 34"/>
          <p:cNvCxnSpPr>
            <a:stCxn id="33" idx="2"/>
            <a:endCxn id="34" idx="0"/>
          </p:cNvCxnSpPr>
          <p:nvPr/>
        </p:nvCxnSpPr>
        <p:spPr>
          <a:xfrm>
            <a:off x="4032250" y="2030413"/>
            <a:ext cx="0" cy="3794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34" idx="2"/>
            <a:endCxn id="41" idx="0"/>
          </p:cNvCxnSpPr>
          <p:nvPr/>
        </p:nvCxnSpPr>
        <p:spPr>
          <a:xfrm>
            <a:off x="4032250" y="2889250"/>
            <a:ext cx="0" cy="3794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菱形 36"/>
          <p:cNvSpPr/>
          <p:nvPr/>
        </p:nvSpPr>
        <p:spPr>
          <a:xfrm>
            <a:off x="3055938" y="4981575"/>
            <a:ext cx="1958975" cy="863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Fish is eating?</a:t>
            </a:r>
            <a:endParaRPr lang="zh-TW" altLang="en-US" dirty="0"/>
          </a:p>
        </p:txBody>
      </p:sp>
      <p:cxnSp>
        <p:nvCxnSpPr>
          <p:cNvPr id="38" name="直線單箭頭接點 37"/>
          <p:cNvCxnSpPr>
            <a:stCxn id="37" idx="1"/>
            <a:endCxn id="40" idx="3"/>
          </p:cNvCxnSpPr>
          <p:nvPr/>
        </p:nvCxnSpPr>
        <p:spPr>
          <a:xfrm flipH="1">
            <a:off x="2411413" y="5413375"/>
            <a:ext cx="6445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5" name="文字方塊 48"/>
          <p:cNvSpPr txBox="1">
            <a:spLocks noChangeArrowheads="1"/>
          </p:cNvSpPr>
          <p:nvPr/>
        </p:nvSpPr>
        <p:spPr bwMode="auto">
          <a:xfrm>
            <a:off x="2447925" y="5072063"/>
            <a:ext cx="560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sp>
        <p:nvSpPr>
          <p:cNvPr id="40" name="菱形 39"/>
          <p:cNvSpPr/>
          <p:nvPr/>
        </p:nvSpPr>
        <p:spPr>
          <a:xfrm>
            <a:off x="171450" y="4972050"/>
            <a:ext cx="2239963" cy="8826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600" dirty="0"/>
              <a:t>Pull in time limit?</a:t>
            </a:r>
            <a:endParaRPr lang="zh-TW" altLang="en-US" sz="1600" dirty="0"/>
          </a:p>
        </p:txBody>
      </p:sp>
      <p:sp>
        <p:nvSpPr>
          <p:cNvPr id="41" name="圓角矩形 40"/>
          <p:cNvSpPr/>
          <p:nvPr/>
        </p:nvSpPr>
        <p:spPr>
          <a:xfrm>
            <a:off x="3492500" y="3268663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Waiting</a:t>
            </a:r>
            <a:endParaRPr lang="zh-TW" altLang="en-US" dirty="0"/>
          </a:p>
        </p:txBody>
      </p:sp>
      <p:cxnSp>
        <p:nvCxnSpPr>
          <p:cNvPr id="42" name="直線單箭頭接點 41"/>
          <p:cNvCxnSpPr>
            <a:stCxn id="41" idx="2"/>
            <a:endCxn id="43" idx="0"/>
          </p:cNvCxnSpPr>
          <p:nvPr/>
        </p:nvCxnSpPr>
        <p:spPr>
          <a:xfrm>
            <a:off x="4032250" y="3748088"/>
            <a:ext cx="0" cy="3746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圓角矩形 42"/>
          <p:cNvSpPr/>
          <p:nvPr/>
        </p:nvSpPr>
        <p:spPr>
          <a:xfrm>
            <a:off x="3492500" y="412273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Pull</a:t>
            </a:r>
            <a:endParaRPr lang="zh-TW" altLang="en-US" dirty="0"/>
          </a:p>
        </p:txBody>
      </p:sp>
      <p:cxnSp>
        <p:nvCxnSpPr>
          <p:cNvPr id="45" name="直線單箭頭接點 44"/>
          <p:cNvCxnSpPr>
            <a:stCxn id="43" idx="2"/>
            <a:endCxn id="37" idx="0"/>
          </p:cNvCxnSpPr>
          <p:nvPr/>
        </p:nvCxnSpPr>
        <p:spPr>
          <a:xfrm>
            <a:off x="4032250" y="4602163"/>
            <a:ext cx="3175" cy="3794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接點 45"/>
          <p:cNvCxnSpPr>
            <a:stCxn id="40" idx="0"/>
            <a:endCxn id="33" idx="1"/>
          </p:cNvCxnSpPr>
          <p:nvPr/>
        </p:nvCxnSpPr>
        <p:spPr>
          <a:xfrm rot="5400000" flipH="1" flipV="1">
            <a:off x="802481" y="2282032"/>
            <a:ext cx="3178175" cy="220186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37" idx="3"/>
            <a:endCxn id="33" idx="3"/>
          </p:cNvCxnSpPr>
          <p:nvPr/>
        </p:nvCxnSpPr>
        <p:spPr>
          <a:xfrm flipH="1" flipV="1">
            <a:off x="4572000" y="1793875"/>
            <a:ext cx="442913" cy="3619500"/>
          </a:xfrm>
          <a:prstGeom prst="bentConnector3">
            <a:avLst>
              <a:gd name="adj1" fmla="val -2076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3" name="文字方塊 99"/>
          <p:cNvSpPr txBox="1">
            <a:spLocks noChangeArrowheads="1"/>
          </p:cNvSpPr>
          <p:nvPr/>
        </p:nvSpPr>
        <p:spPr bwMode="auto">
          <a:xfrm>
            <a:off x="5226050" y="5048250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19474" name="文字方塊 100"/>
          <p:cNvSpPr txBox="1">
            <a:spLocks noChangeArrowheads="1"/>
          </p:cNvSpPr>
          <p:nvPr/>
        </p:nvSpPr>
        <p:spPr bwMode="auto">
          <a:xfrm>
            <a:off x="1327150" y="4608513"/>
            <a:ext cx="4810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50" name="圓角矩形 49"/>
          <p:cNvSpPr/>
          <p:nvPr/>
        </p:nvSpPr>
        <p:spPr>
          <a:xfrm>
            <a:off x="752475" y="626268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Get fish</a:t>
            </a:r>
            <a:endParaRPr lang="zh-TW" altLang="en-US" dirty="0"/>
          </a:p>
        </p:txBody>
      </p:sp>
      <p:cxnSp>
        <p:nvCxnSpPr>
          <p:cNvPr id="51" name="肘形接點 50"/>
          <p:cNvCxnSpPr>
            <a:stCxn id="50" idx="3"/>
            <a:endCxn id="33" idx="3"/>
          </p:cNvCxnSpPr>
          <p:nvPr/>
        </p:nvCxnSpPr>
        <p:spPr>
          <a:xfrm flipV="1">
            <a:off x="1831975" y="1793875"/>
            <a:ext cx="2740025" cy="4708525"/>
          </a:xfrm>
          <a:prstGeom prst="bentConnector3">
            <a:avLst>
              <a:gd name="adj1" fmla="val 14982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40" idx="2"/>
            <a:endCxn id="50" idx="0"/>
          </p:cNvCxnSpPr>
          <p:nvPr/>
        </p:nvCxnSpPr>
        <p:spPr>
          <a:xfrm flipH="1">
            <a:off x="1292225" y="5854700"/>
            <a:ext cx="0" cy="4079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8" name="文字方塊 140"/>
          <p:cNvSpPr txBox="1">
            <a:spLocks noChangeArrowheads="1"/>
          </p:cNvSpPr>
          <p:nvPr/>
        </p:nvSpPr>
        <p:spPr bwMode="auto">
          <a:xfrm>
            <a:off x="4032250" y="2897188"/>
            <a:ext cx="1935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After 1~2 second</a:t>
            </a:r>
            <a:endParaRPr lang="zh-TW" altLang="en-US"/>
          </a:p>
        </p:txBody>
      </p:sp>
      <p:sp>
        <p:nvSpPr>
          <p:cNvPr id="19479" name="文字方塊 142"/>
          <p:cNvSpPr txBox="1">
            <a:spLocks noChangeArrowheads="1"/>
          </p:cNvSpPr>
          <p:nvPr/>
        </p:nvSpPr>
        <p:spPr bwMode="auto">
          <a:xfrm>
            <a:off x="4032250" y="2041525"/>
            <a:ext cx="162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19480" name="文字方塊 143"/>
          <p:cNvSpPr txBox="1">
            <a:spLocks noChangeArrowheads="1"/>
          </p:cNvSpPr>
          <p:nvPr/>
        </p:nvSpPr>
        <p:spPr bwMode="auto">
          <a:xfrm>
            <a:off x="4032250" y="3749675"/>
            <a:ext cx="162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19481" name="文字方塊 48"/>
          <p:cNvSpPr txBox="1">
            <a:spLocks noChangeArrowheads="1"/>
          </p:cNvSpPr>
          <p:nvPr/>
        </p:nvSpPr>
        <p:spPr bwMode="auto">
          <a:xfrm>
            <a:off x="1304925" y="5875338"/>
            <a:ext cx="560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pic>
        <p:nvPicPr>
          <p:cNvPr id="1948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2970213"/>
            <a:ext cx="2973388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>
          <a:xfrm>
            <a:off x="884238" y="-30163"/>
            <a:ext cx="7158037" cy="1412876"/>
          </a:xfrm>
        </p:spPr>
        <p:txBody>
          <a:bodyPr/>
          <a:lstStyle/>
          <a:p>
            <a:r>
              <a:rPr lang="en-US" altLang="zh-TW"/>
              <a:t>Situation 3 – Fish escape</a:t>
            </a:r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3492500" y="1557338"/>
            <a:ext cx="1079500" cy="473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34" name="圓角矩形 33"/>
          <p:cNvSpPr/>
          <p:nvPr/>
        </p:nvSpPr>
        <p:spPr>
          <a:xfrm>
            <a:off x="3492500" y="2409825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Put</a:t>
            </a:r>
            <a:endParaRPr lang="zh-TW" altLang="en-US" dirty="0"/>
          </a:p>
        </p:txBody>
      </p:sp>
      <p:cxnSp>
        <p:nvCxnSpPr>
          <p:cNvPr id="35" name="直線單箭頭接點 34"/>
          <p:cNvCxnSpPr>
            <a:stCxn id="33" idx="2"/>
            <a:endCxn id="34" idx="0"/>
          </p:cNvCxnSpPr>
          <p:nvPr/>
        </p:nvCxnSpPr>
        <p:spPr>
          <a:xfrm>
            <a:off x="4032250" y="2030413"/>
            <a:ext cx="0" cy="3794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34" idx="2"/>
            <a:endCxn id="41" idx="0"/>
          </p:cNvCxnSpPr>
          <p:nvPr/>
        </p:nvCxnSpPr>
        <p:spPr>
          <a:xfrm>
            <a:off x="4032250" y="2889250"/>
            <a:ext cx="0" cy="3794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菱形 36"/>
          <p:cNvSpPr/>
          <p:nvPr/>
        </p:nvSpPr>
        <p:spPr>
          <a:xfrm>
            <a:off x="3055938" y="4981575"/>
            <a:ext cx="1958975" cy="863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Fish is eating?</a:t>
            </a:r>
            <a:endParaRPr lang="zh-TW" altLang="en-US" dirty="0"/>
          </a:p>
        </p:txBody>
      </p:sp>
      <p:cxnSp>
        <p:nvCxnSpPr>
          <p:cNvPr id="38" name="直線單箭頭接點 37"/>
          <p:cNvCxnSpPr>
            <a:stCxn id="37" idx="1"/>
            <a:endCxn id="40" idx="3"/>
          </p:cNvCxnSpPr>
          <p:nvPr/>
        </p:nvCxnSpPr>
        <p:spPr>
          <a:xfrm flipH="1">
            <a:off x="2411413" y="5413375"/>
            <a:ext cx="6445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9" name="文字方塊 48"/>
          <p:cNvSpPr txBox="1">
            <a:spLocks noChangeArrowheads="1"/>
          </p:cNvSpPr>
          <p:nvPr/>
        </p:nvSpPr>
        <p:spPr bwMode="auto">
          <a:xfrm>
            <a:off x="2447925" y="5072063"/>
            <a:ext cx="560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sp>
        <p:nvSpPr>
          <p:cNvPr id="40" name="菱形 39"/>
          <p:cNvSpPr/>
          <p:nvPr/>
        </p:nvSpPr>
        <p:spPr>
          <a:xfrm>
            <a:off x="171450" y="4972050"/>
            <a:ext cx="2239963" cy="8826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600" dirty="0"/>
              <a:t>Pull in time limit?</a:t>
            </a:r>
            <a:endParaRPr lang="zh-TW" altLang="en-US" sz="1600" dirty="0"/>
          </a:p>
        </p:txBody>
      </p:sp>
      <p:sp>
        <p:nvSpPr>
          <p:cNvPr id="41" name="圓角矩形 40"/>
          <p:cNvSpPr/>
          <p:nvPr/>
        </p:nvSpPr>
        <p:spPr>
          <a:xfrm>
            <a:off x="3492500" y="3268663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Waiting</a:t>
            </a:r>
            <a:endParaRPr lang="zh-TW" altLang="en-US" dirty="0"/>
          </a:p>
        </p:txBody>
      </p:sp>
      <p:cxnSp>
        <p:nvCxnSpPr>
          <p:cNvPr id="42" name="直線單箭頭接點 41"/>
          <p:cNvCxnSpPr>
            <a:stCxn id="41" idx="2"/>
            <a:endCxn id="43" idx="0"/>
          </p:cNvCxnSpPr>
          <p:nvPr/>
        </p:nvCxnSpPr>
        <p:spPr>
          <a:xfrm>
            <a:off x="4032250" y="3748088"/>
            <a:ext cx="0" cy="3746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圓角矩形 42"/>
          <p:cNvSpPr/>
          <p:nvPr/>
        </p:nvSpPr>
        <p:spPr>
          <a:xfrm>
            <a:off x="3492500" y="412273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Pull</a:t>
            </a:r>
            <a:endParaRPr lang="zh-TW" altLang="en-US" dirty="0"/>
          </a:p>
        </p:txBody>
      </p:sp>
      <p:cxnSp>
        <p:nvCxnSpPr>
          <p:cNvPr id="45" name="直線單箭頭接點 44"/>
          <p:cNvCxnSpPr>
            <a:stCxn id="43" idx="2"/>
            <a:endCxn id="37" idx="0"/>
          </p:cNvCxnSpPr>
          <p:nvPr/>
        </p:nvCxnSpPr>
        <p:spPr>
          <a:xfrm>
            <a:off x="4032250" y="4602163"/>
            <a:ext cx="3175" cy="3794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接點 45"/>
          <p:cNvCxnSpPr>
            <a:stCxn id="40" idx="0"/>
            <a:endCxn id="33" idx="1"/>
          </p:cNvCxnSpPr>
          <p:nvPr/>
        </p:nvCxnSpPr>
        <p:spPr>
          <a:xfrm rot="5400000" flipH="1" flipV="1">
            <a:off x="802481" y="2282032"/>
            <a:ext cx="3178175" cy="220186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37" idx="3"/>
            <a:endCxn id="33" idx="3"/>
          </p:cNvCxnSpPr>
          <p:nvPr/>
        </p:nvCxnSpPr>
        <p:spPr>
          <a:xfrm flipH="1" flipV="1">
            <a:off x="4572000" y="1793875"/>
            <a:ext cx="442913" cy="3619500"/>
          </a:xfrm>
          <a:prstGeom prst="bentConnector3">
            <a:avLst>
              <a:gd name="adj1" fmla="val -2076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7" name="文字方塊 99"/>
          <p:cNvSpPr txBox="1">
            <a:spLocks noChangeArrowheads="1"/>
          </p:cNvSpPr>
          <p:nvPr/>
        </p:nvSpPr>
        <p:spPr bwMode="auto">
          <a:xfrm>
            <a:off x="5226050" y="5048250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20498" name="文字方塊 100"/>
          <p:cNvSpPr txBox="1">
            <a:spLocks noChangeArrowheads="1"/>
          </p:cNvSpPr>
          <p:nvPr/>
        </p:nvSpPr>
        <p:spPr bwMode="auto">
          <a:xfrm>
            <a:off x="1327150" y="4608513"/>
            <a:ext cx="4810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No</a:t>
            </a:r>
            <a:endParaRPr lang="zh-TW" altLang="en-US"/>
          </a:p>
        </p:txBody>
      </p:sp>
      <p:sp>
        <p:nvSpPr>
          <p:cNvPr id="50" name="圓角矩形 49"/>
          <p:cNvSpPr/>
          <p:nvPr/>
        </p:nvSpPr>
        <p:spPr>
          <a:xfrm>
            <a:off x="752475" y="6262688"/>
            <a:ext cx="1079500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Get fish</a:t>
            </a:r>
            <a:endParaRPr lang="zh-TW" altLang="en-US" dirty="0"/>
          </a:p>
        </p:txBody>
      </p:sp>
      <p:cxnSp>
        <p:nvCxnSpPr>
          <p:cNvPr id="51" name="肘形接點 50"/>
          <p:cNvCxnSpPr>
            <a:stCxn id="50" idx="3"/>
            <a:endCxn id="33" idx="3"/>
          </p:cNvCxnSpPr>
          <p:nvPr/>
        </p:nvCxnSpPr>
        <p:spPr>
          <a:xfrm flipV="1">
            <a:off x="1831975" y="1793875"/>
            <a:ext cx="2740025" cy="4708525"/>
          </a:xfrm>
          <a:prstGeom prst="bentConnector3">
            <a:avLst>
              <a:gd name="adj1" fmla="val 14982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40" idx="2"/>
            <a:endCxn id="50" idx="0"/>
          </p:cNvCxnSpPr>
          <p:nvPr/>
        </p:nvCxnSpPr>
        <p:spPr>
          <a:xfrm flipH="1">
            <a:off x="1292225" y="5854700"/>
            <a:ext cx="0" cy="407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02" name="文字方塊 140"/>
          <p:cNvSpPr txBox="1">
            <a:spLocks noChangeArrowheads="1"/>
          </p:cNvSpPr>
          <p:nvPr/>
        </p:nvSpPr>
        <p:spPr bwMode="auto">
          <a:xfrm>
            <a:off x="4032250" y="2897188"/>
            <a:ext cx="1935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After 1~2 second</a:t>
            </a:r>
            <a:endParaRPr lang="zh-TW" altLang="en-US"/>
          </a:p>
        </p:txBody>
      </p:sp>
      <p:sp>
        <p:nvSpPr>
          <p:cNvPr id="20503" name="文字方塊 142"/>
          <p:cNvSpPr txBox="1">
            <a:spLocks noChangeArrowheads="1"/>
          </p:cNvSpPr>
          <p:nvPr/>
        </p:nvSpPr>
        <p:spPr bwMode="auto">
          <a:xfrm>
            <a:off x="4032250" y="2041525"/>
            <a:ext cx="162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20504" name="文字方塊 143"/>
          <p:cNvSpPr txBox="1">
            <a:spLocks noChangeArrowheads="1"/>
          </p:cNvSpPr>
          <p:nvPr/>
        </p:nvSpPr>
        <p:spPr bwMode="auto">
          <a:xfrm>
            <a:off x="4035425" y="3749675"/>
            <a:ext cx="162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Press Ctrl + C</a:t>
            </a:r>
            <a:endParaRPr lang="zh-TW" altLang="en-US"/>
          </a:p>
        </p:txBody>
      </p:sp>
      <p:sp>
        <p:nvSpPr>
          <p:cNvPr id="20505" name="文字方塊 48"/>
          <p:cNvSpPr txBox="1">
            <a:spLocks noChangeArrowheads="1"/>
          </p:cNvSpPr>
          <p:nvPr/>
        </p:nvSpPr>
        <p:spPr bwMode="auto">
          <a:xfrm>
            <a:off x="1304925" y="5875338"/>
            <a:ext cx="560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Yes</a:t>
            </a:r>
            <a:endParaRPr lang="zh-TW" altLang="en-US"/>
          </a:p>
        </p:txBody>
      </p:sp>
      <p:pic>
        <p:nvPicPr>
          <p:cNvPr id="2050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50" y="2989263"/>
            <a:ext cx="29051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Show the totally number of caught fishes in the game before exiting. </a:t>
            </a:r>
            <a:endParaRPr lang="zh-TW" altLang="en-US"/>
          </a:p>
        </p:txBody>
      </p:sp>
      <p:sp>
        <p:nvSpPr>
          <p:cNvPr id="21507" name="標題 1"/>
          <p:cNvSpPr>
            <a:spLocks noGrp="1"/>
          </p:cNvSpPr>
          <p:nvPr>
            <p:ph type="title"/>
          </p:nvPr>
        </p:nvSpPr>
        <p:spPr>
          <a:xfrm>
            <a:off x="884238" y="-30163"/>
            <a:ext cx="7158037" cy="1412876"/>
          </a:xfrm>
        </p:spPr>
        <p:txBody>
          <a:bodyPr/>
          <a:lstStyle/>
          <a:p>
            <a:r>
              <a:rPr lang="en-US" altLang="zh-TW"/>
              <a:t>Game Exit</a:t>
            </a:r>
            <a:endParaRPr lang="zh-TW" altLang="en-US"/>
          </a:p>
        </p:txBody>
      </p:sp>
      <p:pic>
        <p:nvPicPr>
          <p:cNvPr id="21508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3390900"/>
            <a:ext cx="30114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/>
          <p:cNvSpPr>
            <a:spLocks noGrp="1"/>
          </p:cNvSpPr>
          <p:nvPr>
            <p:ph type="title"/>
          </p:nvPr>
        </p:nvSpPr>
        <p:spPr>
          <a:xfrm>
            <a:off x="900113" y="-26988"/>
            <a:ext cx="7158037" cy="1412876"/>
          </a:xfrm>
        </p:spPr>
        <p:txBody>
          <a:bodyPr/>
          <a:lstStyle/>
          <a:p>
            <a:r>
              <a:rPr lang="en-US" altLang="zh-TW"/>
              <a:t>Result of Requirements </a:t>
            </a:r>
            <a:endParaRPr lang="zh-TW" altLang="en-US"/>
          </a:p>
        </p:txBody>
      </p:sp>
      <p:sp>
        <p:nvSpPr>
          <p:cNvPr id="2253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Finish the above situation 1~3 and game exit.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Turn In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Turn In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8208963" cy="4968875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The E-course System</a:t>
            </a:r>
          </a:p>
          <a:p>
            <a:pPr lvl="1" eaLnBrk="1" hangingPunct="1"/>
            <a:r>
              <a:rPr lang="en-US" altLang="zh-TW" sz="2400" dirty="0"/>
              <a:t>https://ecourse.ccu.edu.tw/</a:t>
            </a:r>
          </a:p>
          <a:p>
            <a:pPr lvl="1" eaLnBrk="1" hangingPunct="1"/>
            <a:endParaRPr lang="en-US" altLang="zh-TW" sz="2400" dirty="0"/>
          </a:p>
          <a:p>
            <a:pPr eaLnBrk="1" hangingPunct="1"/>
            <a:r>
              <a:rPr lang="en-US" altLang="zh-TW" sz="2800" dirty="0"/>
              <a:t>Upload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zh-TW" altLang="en-US" sz="2800" dirty="0">
                <a:solidFill>
                  <a:srgbClr val="FF0000"/>
                </a:solidFill>
              </a:rPr>
              <a:t>學號</a:t>
            </a:r>
            <a:r>
              <a:rPr lang="en-US" altLang="zh-TW" sz="2800" dirty="0">
                <a:solidFill>
                  <a:srgbClr val="FF0000"/>
                </a:solidFill>
              </a:rPr>
              <a:t>.zip </a:t>
            </a:r>
            <a:r>
              <a:rPr lang="en-US" altLang="zh-TW" sz="2800" dirty="0"/>
              <a:t>into “</a:t>
            </a:r>
            <a:r>
              <a:rPr lang="en-US" altLang="zh-TW" sz="2800" dirty="0">
                <a:solidFill>
                  <a:schemeClr val="accent2"/>
                </a:solidFill>
              </a:rPr>
              <a:t>Lab-7</a:t>
            </a:r>
            <a:r>
              <a:rPr lang="en-US" altLang="zh-TW" sz="2800" dirty="0"/>
              <a:t>”</a:t>
            </a:r>
          </a:p>
          <a:p>
            <a:pPr lvl="1" eaLnBrk="1" hangingPunct="1"/>
            <a:r>
              <a:rPr lang="en-US" altLang="zh-TW" sz="2400" dirty="0"/>
              <a:t>Source code</a:t>
            </a:r>
          </a:p>
          <a:p>
            <a:pPr lvl="1" eaLnBrk="1" hangingPunct="1"/>
            <a:endParaRPr lang="en-US" altLang="zh-TW" sz="2400" dirty="0"/>
          </a:p>
          <a:p>
            <a:pPr eaLnBrk="1" hangingPunct="1"/>
            <a:r>
              <a:rPr lang="en-US" altLang="zh-TW" sz="2800" dirty="0"/>
              <a:t>Due date</a:t>
            </a:r>
          </a:p>
          <a:p>
            <a:pPr lvl="1" eaLnBrk="1" hangingPunct="1"/>
            <a:r>
              <a:rPr lang="en-US" altLang="zh-TW" sz="2400" dirty="0"/>
              <a:t>2019/06/20 23:59:59</a:t>
            </a:r>
          </a:p>
          <a:p>
            <a:pPr lvl="1" eaLnBrk="1" hangingPunct="1"/>
            <a:endParaRPr lang="en-US" altLang="zh-TW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Turn In (cont’d)</a:t>
            </a:r>
            <a:endParaRPr lang="zh-TW" altLang="en-US"/>
          </a:p>
        </p:txBody>
      </p:sp>
      <p:sp>
        <p:nvSpPr>
          <p:cNvPr id="2765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TW" dirty="0"/>
          </a:p>
          <a:p>
            <a:r>
              <a:rPr lang="en-US" altLang="zh-TW" sz="2800" dirty="0"/>
              <a:t>TA’s email:</a:t>
            </a:r>
          </a:p>
          <a:p>
            <a:pPr lvl="1"/>
            <a:r>
              <a:rPr lang="en-US" altLang="zh-TW" sz="2400" dirty="0"/>
              <a:t>d9872468@gmail.com (</a:t>
            </a:r>
            <a:r>
              <a:rPr lang="zh-TW" altLang="en-US" sz="2400" dirty="0"/>
              <a:t>中文</a:t>
            </a:r>
            <a:r>
              <a:rPr lang="en-US" altLang="zh-TW" sz="2400" dirty="0"/>
              <a:t>) </a:t>
            </a:r>
          </a:p>
          <a:p>
            <a:pPr lvl="1"/>
            <a:r>
              <a:rPr lang="en-US" altLang="zh-TW" sz="2400" dirty="0"/>
              <a:t>thanh.cntt92@gmail.com (</a:t>
            </a:r>
            <a:r>
              <a:rPr lang="zh-TW" altLang="en-US" sz="2400" dirty="0"/>
              <a:t>英文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8675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Download</a:t>
            </a:r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Download</a:t>
            </a:r>
            <a:endParaRPr lang="zh-TW" altLang="en-US"/>
          </a:p>
        </p:txBody>
      </p:sp>
      <p:sp>
        <p:nvSpPr>
          <p:cNvPr id="29699" name="內容版面配置區 2"/>
          <p:cNvSpPr>
            <a:spLocks noGrp="1"/>
          </p:cNvSpPr>
          <p:nvPr>
            <p:ph idx="1"/>
          </p:nvPr>
        </p:nvSpPr>
        <p:spPr>
          <a:xfrm>
            <a:off x="949325" y="1981200"/>
            <a:ext cx="7943850" cy="4114800"/>
          </a:xfrm>
        </p:spPr>
        <p:txBody>
          <a:bodyPr/>
          <a:lstStyle/>
          <a:p>
            <a:pPr marL="441325" lvl="1" indent="0">
              <a:buFont typeface="Wingdings" panose="05000000000000000000" pitchFamily="2" charset="2"/>
              <a:buNone/>
            </a:pPr>
            <a:r>
              <a:rPr lang="en-US" altLang="zh-TW" sz="3200"/>
              <a:t>No code to offer, Good Luck!</a:t>
            </a:r>
          </a:p>
          <a:p>
            <a:pPr marL="441325" lvl="1" indent="0">
              <a:buFont typeface="Wingdings" panose="05000000000000000000" pitchFamily="2" charset="2"/>
              <a:buNone/>
            </a:pPr>
            <a:endParaRPr lang="en-US" altLang="zh-TW" sz="1800"/>
          </a:p>
          <a:p>
            <a:pPr marL="441325" lvl="1" indent="0">
              <a:buFont typeface="Wingdings" panose="05000000000000000000" pitchFamily="2" charset="2"/>
              <a:buNone/>
            </a:pPr>
            <a:endParaRPr lang="en-US" altLang="zh-TW" sz="1800"/>
          </a:p>
          <a:p>
            <a:pPr marL="441325" lvl="1" indent="0">
              <a:buFont typeface="Wingdings" panose="05000000000000000000" pitchFamily="2" charset="2"/>
              <a:buNone/>
            </a:pPr>
            <a:endParaRPr lang="en-US" altLang="zh-TW" sz="180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/>
              <a:t> </a:t>
            </a:r>
            <a:br>
              <a:rPr lang="en-US" altLang="zh-TW"/>
            </a:br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6880</TotalTime>
  <Words>472</Words>
  <Application>Microsoft Office PowerPoint</Application>
  <PresentationFormat>如螢幕大小 (4:3)</PresentationFormat>
  <Paragraphs>162</Paragraphs>
  <Slides>22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Axis</vt:lpstr>
      <vt:lpstr>PowerPoint 簡報</vt:lpstr>
      <vt:lpstr>System Programming Lab 7 Signals - Fishing Game</vt:lpstr>
      <vt:lpstr>Outline</vt:lpstr>
      <vt:lpstr>Fishing Game &amp; Signal Handling</vt:lpstr>
      <vt:lpstr>Fishing Game </vt:lpstr>
      <vt:lpstr>Fishing Game Flow</vt:lpstr>
      <vt:lpstr>Signal Handling – sigaction </vt:lpstr>
      <vt:lpstr>Signal Handling – sigaction </vt:lpstr>
      <vt:lpstr>Signal Handling – sigaction </vt:lpstr>
      <vt:lpstr>alarm</vt:lpstr>
      <vt:lpstr>rand &amp; srand</vt:lpstr>
      <vt:lpstr>Requirements</vt:lpstr>
      <vt:lpstr>Situation 1 – No fish biting </vt:lpstr>
      <vt:lpstr>Situation 2 – Catch fish</vt:lpstr>
      <vt:lpstr>Situation 3 – Fish escape</vt:lpstr>
      <vt:lpstr>Game Exit</vt:lpstr>
      <vt:lpstr>Result of Requirements </vt:lpstr>
      <vt:lpstr>Turn In</vt:lpstr>
      <vt:lpstr>Turn In</vt:lpstr>
      <vt:lpstr>Turn In (cont’d)</vt:lpstr>
      <vt:lpstr>Download</vt:lpstr>
      <vt:lpstr>Download</vt:lpstr>
    </vt:vector>
  </TitlesOfParts>
  <Company>CMT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Programming Assignment 1</dc:title>
  <dc:creator>ShangWei</dc:creator>
  <cp:lastModifiedBy>JIMMY</cp:lastModifiedBy>
  <cp:revision>367</cp:revision>
  <dcterms:created xsi:type="dcterms:W3CDTF">2007-03-12T12:51:48Z</dcterms:created>
  <dcterms:modified xsi:type="dcterms:W3CDTF">2019-06-16T15:19:29Z</dcterms:modified>
</cp:coreProperties>
</file>